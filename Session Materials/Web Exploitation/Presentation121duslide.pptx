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82" r:id="rId2"/>
    <p:sldId id="283" r:id="rId3"/>
    <p:sldId id="284" r:id="rId4"/>
    <p:sldId id="285" r:id="rId5"/>
    <p:sldId id="286" r:id="rId6"/>
    <p:sldId id="287" r:id="rId7"/>
    <p:sldId id="262" r:id="rId8"/>
    <p:sldId id="263" r:id="rId9"/>
    <p:sldId id="257" r:id="rId10"/>
    <p:sldId id="288" r:id="rId11"/>
    <p:sldId id="289" r:id="rId12"/>
    <p:sldId id="259" r:id="rId13"/>
    <p:sldId id="261" r:id="rId14"/>
    <p:sldId id="256" r:id="rId15"/>
    <p:sldId id="258" r:id="rId16"/>
    <p:sldId id="269" r:id="rId17"/>
    <p:sldId id="270" r:id="rId18"/>
    <p:sldId id="264" r:id="rId19"/>
    <p:sldId id="265" r:id="rId20"/>
    <p:sldId id="266" r:id="rId21"/>
    <p:sldId id="268" r:id="rId22"/>
    <p:sldId id="271" r:id="rId23"/>
    <p:sldId id="277" r:id="rId24"/>
    <p:sldId id="272" r:id="rId25"/>
    <p:sldId id="275" r:id="rId26"/>
    <p:sldId id="278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94658"/>
  </p:normalViewPr>
  <p:slideViewPr>
    <p:cSldViewPr snapToGrid="0">
      <p:cViewPr>
        <p:scale>
          <a:sx n="280" d="100"/>
          <a:sy n="280" d="100"/>
        </p:scale>
        <p:origin x="-10616" y="-3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66B1C-07A8-4540-BAE0-BD4BE3A0DB09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EE6BA-70FA-204E-B0E7-541430989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7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EE6BA-70FA-204E-B0E7-5414309894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0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EE6BA-70FA-204E-B0E7-5414309894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33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9036-5508-DF92-873F-0F69DBC1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B2EEB-27F2-442F-5C1F-2B4029830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E3FAF-4FE1-68BB-F46B-47C19C5FE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83086-BA0E-1C3C-6915-3F29FAC5C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93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AEE6BA-70FA-204E-B0E7-5414309894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14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82D6-1495-98B3-8C74-C55E056FF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8F587-CBE9-4946-2BA9-8C978361E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29FE1-677E-B240-4923-8FEA7EB3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D45A3-DB38-79DE-5D13-08BE3D02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B5E6E-8FDB-3BF6-62EA-66F9F4F0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8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F00B-EF3B-C307-E920-98205A7A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22944-0679-A139-D183-078EC5EC8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2920-EE4B-30E0-2DFD-7033FE6C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BE507-CFC7-6DE8-92EF-7053B1D7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AD48C-B50A-8E6D-69E3-806CEC4D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2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CFE3-1FF6-F2B9-89FC-9FA398D0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2DC16-D80B-091B-2D30-B30B5D759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7DB0F-33D1-3E7A-4488-ADA91235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9598-29E2-1057-9820-2BA05F4B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B3DBD-B631-146F-F434-C5768EA7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0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6D41-C945-1191-BC6C-6602EB53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63A90-83EC-5722-0E11-B140C69B5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9430E-0F45-2C35-0628-8048D5416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31F1A-BE4D-C817-4791-66C4E2CE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12CDD-A9F9-0C40-96F6-151D0895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C3CA5-BC63-4046-50BB-EC15FBE3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8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7F23-5302-006E-6C36-8466BE0D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4BE5A-3DAF-A95C-C9E2-895B4551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3127F-30B8-5CA8-9011-0E403204A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5D7040-D4E4-A7B9-20DF-D803C8790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6A993-8567-16D6-BCA1-54BCFF051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C1018A-7FB8-4C6A-0E4C-6A811D31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32E45-26F0-BEEF-EBC3-97C6367E1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088AE-663D-6E49-8C29-739C6EB48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9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CC88-4970-45A1-5149-F2AF8664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5C6E7-F165-DFF0-7A01-5928E3E0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38816-B637-D848-A2BF-12EC4A43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7D516-D7D9-587D-2635-D32C5AC9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CCDB7-B43A-8143-316D-1E0DED0E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DCF54C-37E9-9252-5FFF-400C7659A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EA7AC-0EF7-0528-57AE-F2F52A5B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2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4CE7-E820-49D4-AE3D-7AC64370B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F2C1E-E3A3-E5E1-F0A4-D9CCCB55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A7480-C076-9F89-1B18-3BD1A5F92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7DF07-D400-E4F0-DC26-A40663BE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BB349-1768-5094-8C38-DE358207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918F4-CEC5-F5B8-791F-89BCB17D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9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00023-32ED-D871-8861-D3F7A340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B5181-8690-5B16-FB1C-880D6481F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DC6A0-4270-AF21-D086-EAED165A9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E528F-89C3-4212-49B0-70EABE51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23F85-2807-ACAB-17C8-A3CE366D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03C7A-4C09-9289-6A75-5FDD40B8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E9F9-CE33-E1A8-A94E-F44390F6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B5324-D629-9AB4-EDF7-CA809A85E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B208-8D9D-DBB8-CE35-88DEE7D8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F62E2-0CD5-82C2-1E85-1E3CBF60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001B-7006-29FF-1B16-B53C30AC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60E3E9-3DA2-2C2F-7FE9-07C36D44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BA019-D699-BFFE-0F49-E1F5A9D1C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C12EE-905D-509D-E3A7-57DA21EE2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49D24-438A-2664-0B7C-39F7E890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75A81-95EF-3AAE-98EA-B234FF74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24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95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53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F2744D-D1E7-2CFD-4D6D-AFBA2483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06453-4535-6BBE-14FE-B9B3B32AD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53161-E8E3-AE4D-C330-22D16DED8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4B8E1-65C9-5149-946D-38CAEB6126F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26CE-078A-81F5-AA9A-6F1AFC3CF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332CE-79B7-0062-7D00-0AA7E5CB2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074E9-B200-464A-B122-CF499ADDC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1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vulnbank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BDC24-A07E-639E-667D-0A08D768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07" y="822036"/>
            <a:ext cx="10107097" cy="507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6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2620C3-8A69-9ACB-43B1-C1F719E09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22" y="1487053"/>
            <a:ext cx="5575300" cy="31218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02F985-E8FA-2C67-C561-B2296AB9F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268" y="1371598"/>
            <a:ext cx="45339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8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83C171-C405-456A-B3B5-18221B29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92" y="1154545"/>
            <a:ext cx="8915215" cy="417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3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432EBE-1581-9E39-8D88-94A51348B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509" y="1575601"/>
            <a:ext cx="7772400" cy="309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810302-EA46-2F12-EDD0-74665AF69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437" y="387927"/>
            <a:ext cx="7772400" cy="626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1584D5-38C4-D977-662D-39850ADCA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26573"/>
            <a:ext cx="7772400" cy="320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2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488414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WHOIS Lookup: </a:t>
            </a:r>
            <a:r>
              <a:rPr lang="en-US" sz="1600" b="1" u="sng" dirty="0">
                <a:solidFill>
                  <a:srgbClr val="00D9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vulnbank.org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61475" y="808891"/>
            <a:ext cx="1123227" cy="12571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711083" y="833695"/>
            <a:ext cx="1633596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FORENSIC INTELLIGENCE REPORT</a:t>
            </a:r>
            <a:endParaRPr lang="en-US" sz="500" dirty="0"/>
          </a:p>
        </p:txBody>
      </p:sp>
      <p:sp>
        <p:nvSpPr>
          <p:cNvPr id="6" name="Shape 3"/>
          <p:cNvSpPr/>
          <p:nvPr/>
        </p:nvSpPr>
        <p:spPr>
          <a:xfrm>
            <a:off x="1825976" y="808891"/>
            <a:ext cx="287529" cy="12571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75584" y="833695"/>
            <a:ext cx="797897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OSINT</a:t>
            </a:r>
            <a:endParaRPr lang="en-US" sz="500" dirty="0"/>
          </a:p>
        </p:txBody>
      </p:sp>
      <p:sp>
        <p:nvSpPr>
          <p:cNvPr id="8" name="Shape 5"/>
          <p:cNvSpPr/>
          <p:nvPr/>
        </p:nvSpPr>
        <p:spPr>
          <a:xfrm>
            <a:off x="2154779" y="808891"/>
            <a:ext cx="942951" cy="12571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04387" y="833695"/>
            <a:ext cx="1453320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RECONNAISSANCE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661475" y="1022310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Domain Registration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61475" y="1197928"/>
            <a:ext cx="5333569" cy="1348581"/>
          </a:xfrm>
          <a:prstGeom prst="roundRect">
            <a:avLst>
              <a:gd name="adj" fmla="val 257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1475" y="1368881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61475" y="1536660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1475" y="1704439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61475" y="1872218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61475" y="2039997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61475" y="2207776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61475" y="2375555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50571" y="1235432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Field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3410956" y="1235432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Value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750571" y="1403211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Name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3410956" y="1403211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vulnbank.org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750571" y="1570990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Registry Domain ID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410956" y="1570990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REDACTED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50571" y="1738769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Creation Date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3410956" y="1738769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B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2025-07-05T11:01:13Z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50571" y="1906548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Updated Date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410956" y="1906548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2026-08-12T00:41:31Z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750571" y="2074327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Registry Expiry Date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3410956" y="2074327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2027-07-05T11:01:13Z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50571" y="2242106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Status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410956" y="2242106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B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clientTransferProhibited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50571" y="2409885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DNSSEC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410956" y="2409885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unsigned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661475" y="2592943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Registrar Details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61475" y="2768560"/>
            <a:ext cx="5333569" cy="1180802"/>
          </a:xfrm>
          <a:prstGeom prst="roundRect">
            <a:avLst>
              <a:gd name="adj" fmla="val 29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1475" y="2939514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61475" y="3107293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61475" y="3275072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61475" y="3442851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61475" y="3610630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61475" y="3778409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750571" y="2806065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Field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3410956" y="2806065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Value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750571" y="2973844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Registrar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3410956" y="2973844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Cloudflare, Inc.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750571" y="3141623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Registrar IANA ID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3410956" y="3141623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1910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750571" y="3309402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WHOIS Server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3410956" y="3309402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whois.cloudflare.com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750571" y="3477181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Registrar URL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3410956" y="3477181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http://www.cloudflare.com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750571" y="3644960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Abuse Email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3410956" y="3644960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registry-abuse@cloudflare.com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750571" y="3812738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Abuse Phone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3410956" y="3812738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+1.6503198930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661475" y="3995797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Name Servers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61475" y="4171414"/>
            <a:ext cx="2646098" cy="447576"/>
          </a:xfrm>
          <a:prstGeom prst="roundRect">
            <a:avLst>
              <a:gd name="adj" fmla="val 77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50472" y="4260413"/>
            <a:ext cx="24681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lauryn.ns.cloudflare.com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50472" y="4430871"/>
            <a:ext cx="2468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NS</a:t>
            </a:r>
            <a:endParaRPr lang="en-US" sz="650" dirty="0"/>
          </a:p>
        </p:txBody>
      </p:sp>
      <p:sp>
        <p:nvSpPr>
          <p:cNvPr id="61" name="Shape 58"/>
          <p:cNvSpPr/>
          <p:nvPr/>
        </p:nvSpPr>
        <p:spPr>
          <a:xfrm>
            <a:off x="3348847" y="4171414"/>
            <a:ext cx="2646197" cy="447576"/>
          </a:xfrm>
          <a:prstGeom prst="roundRect">
            <a:avLst>
              <a:gd name="adj" fmla="val 77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37844" y="4260413"/>
            <a:ext cx="246820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neil.ns.cloudflare.com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437844" y="4430871"/>
            <a:ext cx="2468203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Secondary NS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6203001" y="1022310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TLD Registry — .ORG (IANA)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6203001" y="1197928"/>
            <a:ext cx="5333569" cy="2355255"/>
          </a:xfrm>
          <a:prstGeom prst="roundRect">
            <a:avLst>
              <a:gd name="adj" fmla="val 147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203001" y="1368881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6203001" y="1536660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6203001" y="1704439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6203001" y="1872218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6203001" y="2039997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6203001" y="2207776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6203001" y="2375555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6203001" y="2543334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6203001" y="2711113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6203001" y="2878892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6203001" y="3046670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6203001" y="3214449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6203001" y="3382228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9" name="Text 76"/>
          <p:cNvSpPr/>
          <p:nvPr/>
        </p:nvSpPr>
        <p:spPr>
          <a:xfrm>
            <a:off x="6292097" y="1235432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Field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8952482" y="1235432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Value</a:t>
            </a:r>
            <a:endParaRPr lang="en-US" sz="650" dirty="0"/>
          </a:p>
        </p:txBody>
      </p:sp>
      <p:sp>
        <p:nvSpPr>
          <p:cNvPr id="81" name="Text 78"/>
          <p:cNvSpPr/>
          <p:nvPr/>
        </p:nvSpPr>
        <p:spPr>
          <a:xfrm>
            <a:off x="6292097" y="1403211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Organisation</a:t>
            </a:r>
            <a:endParaRPr lang="en-US" sz="650" dirty="0"/>
          </a:p>
        </p:txBody>
      </p:sp>
      <p:sp>
        <p:nvSpPr>
          <p:cNvPr id="82" name="Text 79"/>
          <p:cNvSpPr/>
          <p:nvPr/>
        </p:nvSpPr>
        <p:spPr>
          <a:xfrm>
            <a:off x="8952482" y="1403211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Interest Registry (PIR)</a:t>
            </a:r>
            <a:endParaRPr lang="en-US" sz="650" dirty="0"/>
          </a:p>
        </p:txBody>
      </p:sp>
      <p:sp>
        <p:nvSpPr>
          <p:cNvPr id="83" name="Text 80"/>
          <p:cNvSpPr/>
          <p:nvPr/>
        </p:nvSpPr>
        <p:spPr>
          <a:xfrm>
            <a:off x="6292097" y="1570990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</a:t>
            </a:r>
            <a:endParaRPr lang="en-US" sz="650" dirty="0"/>
          </a:p>
        </p:txBody>
      </p:sp>
      <p:sp>
        <p:nvSpPr>
          <p:cNvPr id="84" name="Text 81"/>
          <p:cNvSpPr/>
          <p:nvPr/>
        </p:nvSpPr>
        <p:spPr>
          <a:xfrm>
            <a:off x="8952482" y="1570990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11911 Freedom Drive, 10th Floor, Suite 1000, Reston VA 20190, USA</a:t>
            </a:r>
            <a:endParaRPr lang="en-US" sz="650" dirty="0"/>
          </a:p>
        </p:txBody>
      </p:sp>
      <p:sp>
        <p:nvSpPr>
          <p:cNvPr id="85" name="Text 82"/>
          <p:cNvSpPr/>
          <p:nvPr/>
        </p:nvSpPr>
        <p:spPr>
          <a:xfrm>
            <a:off x="6292097" y="1738769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Contact</a:t>
            </a:r>
            <a:endParaRPr lang="en-US" sz="650" dirty="0"/>
          </a:p>
        </p:txBody>
      </p:sp>
      <p:sp>
        <p:nvSpPr>
          <p:cNvPr id="86" name="Text 83"/>
          <p:cNvSpPr/>
          <p:nvPr/>
        </p:nvSpPr>
        <p:spPr>
          <a:xfrm>
            <a:off x="8952482" y="1738769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 of Operations, Compliance &amp; Customer Support</a:t>
            </a:r>
            <a:endParaRPr lang="en-US" sz="650" dirty="0"/>
          </a:p>
        </p:txBody>
      </p:sp>
      <p:sp>
        <p:nvSpPr>
          <p:cNvPr id="87" name="Text 84"/>
          <p:cNvSpPr/>
          <p:nvPr/>
        </p:nvSpPr>
        <p:spPr>
          <a:xfrm>
            <a:off x="6292097" y="1906548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Phone</a:t>
            </a:r>
            <a:endParaRPr lang="en-US" sz="650" dirty="0"/>
          </a:p>
        </p:txBody>
      </p:sp>
      <p:sp>
        <p:nvSpPr>
          <p:cNvPr id="88" name="Text 85"/>
          <p:cNvSpPr/>
          <p:nvPr/>
        </p:nvSpPr>
        <p:spPr>
          <a:xfrm>
            <a:off x="8952482" y="1906548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+1 703 889 5778</a:t>
            </a:r>
            <a:endParaRPr lang="en-US" sz="650" dirty="0"/>
          </a:p>
        </p:txBody>
      </p:sp>
      <p:sp>
        <p:nvSpPr>
          <p:cNvPr id="89" name="Text 86"/>
          <p:cNvSpPr/>
          <p:nvPr/>
        </p:nvSpPr>
        <p:spPr>
          <a:xfrm>
            <a:off x="6292097" y="2074327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Email</a:t>
            </a:r>
            <a:endParaRPr lang="en-US" sz="650" dirty="0"/>
          </a:p>
        </p:txBody>
      </p:sp>
      <p:sp>
        <p:nvSpPr>
          <p:cNvPr id="90" name="Text 87"/>
          <p:cNvSpPr/>
          <p:nvPr/>
        </p:nvSpPr>
        <p:spPr>
          <a:xfrm>
            <a:off x="8952482" y="2074327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ops@pir.org</a:t>
            </a:r>
            <a:endParaRPr lang="en-US" sz="650" dirty="0"/>
          </a:p>
        </p:txBody>
      </p:sp>
      <p:sp>
        <p:nvSpPr>
          <p:cNvPr id="91" name="Text 88"/>
          <p:cNvSpPr/>
          <p:nvPr/>
        </p:nvSpPr>
        <p:spPr>
          <a:xfrm>
            <a:off x="6292097" y="2242106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Contact</a:t>
            </a:r>
            <a:endParaRPr lang="en-US" sz="650" dirty="0"/>
          </a:p>
        </p:txBody>
      </p:sp>
      <p:sp>
        <p:nvSpPr>
          <p:cNvPr id="92" name="Text 89"/>
          <p:cNvSpPr/>
          <p:nvPr/>
        </p:nvSpPr>
        <p:spPr>
          <a:xfrm>
            <a:off x="8952482" y="2242106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Senior Director, DNS Infrastructure Group</a:t>
            </a:r>
            <a:endParaRPr lang="en-US" sz="650" dirty="0"/>
          </a:p>
        </p:txBody>
      </p:sp>
      <p:sp>
        <p:nvSpPr>
          <p:cNvPr id="93" name="Text 90"/>
          <p:cNvSpPr/>
          <p:nvPr/>
        </p:nvSpPr>
        <p:spPr>
          <a:xfrm>
            <a:off x="6292097" y="2409885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Org</a:t>
            </a:r>
            <a:endParaRPr lang="en-US" sz="650" dirty="0"/>
          </a:p>
        </p:txBody>
      </p:sp>
      <p:sp>
        <p:nvSpPr>
          <p:cNvPr id="94" name="Text 91"/>
          <p:cNvSpPr/>
          <p:nvPr/>
        </p:nvSpPr>
        <p:spPr>
          <a:xfrm>
            <a:off x="8952482" y="2409885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Identity Digital Limited</a:t>
            </a:r>
            <a:endParaRPr lang="en-US" sz="650" dirty="0"/>
          </a:p>
        </p:txBody>
      </p:sp>
      <p:sp>
        <p:nvSpPr>
          <p:cNvPr id="95" name="Text 92"/>
          <p:cNvSpPr/>
          <p:nvPr/>
        </p:nvSpPr>
        <p:spPr>
          <a:xfrm>
            <a:off x="6292097" y="2577663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Address</a:t>
            </a:r>
            <a:endParaRPr lang="en-US" sz="650" dirty="0"/>
          </a:p>
        </p:txBody>
      </p:sp>
      <p:sp>
        <p:nvSpPr>
          <p:cNvPr id="96" name="Text 93"/>
          <p:cNvSpPr/>
          <p:nvPr/>
        </p:nvSpPr>
        <p:spPr>
          <a:xfrm>
            <a:off x="8952482" y="2577663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10500 NE 8th Street, Suite 750, Bellevue WA 98004, USA</a:t>
            </a:r>
            <a:endParaRPr lang="en-US" sz="650" dirty="0"/>
          </a:p>
        </p:txBody>
      </p:sp>
      <p:sp>
        <p:nvSpPr>
          <p:cNvPr id="97" name="Text 94"/>
          <p:cNvSpPr/>
          <p:nvPr/>
        </p:nvSpPr>
        <p:spPr>
          <a:xfrm>
            <a:off x="6292097" y="2745442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Phone</a:t>
            </a:r>
            <a:endParaRPr lang="en-US" sz="650" dirty="0"/>
          </a:p>
        </p:txBody>
      </p:sp>
      <p:sp>
        <p:nvSpPr>
          <p:cNvPr id="98" name="Text 95"/>
          <p:cNvSpPr/>
          <p:nvPr/>
        </p:nvSpPr>
        <p:spPr>
          <a:xfrm>
            <a:off x="8952482" y="2745442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+1.425.298.2200</a:t>
            </a:r>
            <a:endParaRPr lang="en-US" sz="650" dirty="0"/>
          </a:p>
        </p:txBody>
      </p:sp>
      <p:sp>
        <p:nvSpPr>
          <p:cNvPr id="99" name="Text 96"/>
          <p:cNvSpPr/>
          <p:nvPr/>
        </p:nvSpPr>
        <p:spPr>
          <a:xfrm>
            <a:off x="6292097" y="2913221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Email</a:t>
            </a:r>
            <a:endParaRPr lang="en-US" sz="650" dirty="0"/>
          </a:p>
        </p:txBody>
      </p:sp>
      <p:sp>
        <p:nvSpPr>
          <p:cNvPr id="100" name="Text 97"/>
          <p:cNvSpPr/>
          <p:nvPr/>
        </p:nvSpPr>
        <p:spPr>
          <a:xfrm>
            <a:off x="8952482" y="2913221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tldtech@identity.digital</a:t>
            </a:r>
            <a:endParaRPr lang="en-US" sz="650" dirty="0"/>
          </a:p>
        </p:txBody>
      </p:sp>
      <p:sp>
        <p:nvSpPr>
          <p:cNvPr id="101" name="Text 98"/>
          <p:cNvSpPr/>
          <p:nvPr/>
        </p:nvSpPr>
        <p:spPr>
          <a:xfrm>
            <a:off x="6292097" y="3081000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TLD Created</a:t>
            </a:r>
            <a:endParaRPr lang="en-US" sz="650" dirty="0"/>
          </a:p>
        </p:txBody>
      </p:sp>
      <p:sp>
        <p:nvSpPr>
          <p:cNvPr id="102" name="Text 99"/>
          <p:cNvSpPr/>
          <p:nvPr/>
        </p:nvSpPr>
        <p:spPr>
          <a:xfrm>
            <a:off x="8952482" y="3081000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1985-01-01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292097" y="3248779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TLD Changed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8952482" y="3248779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2026-03-10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6292097" y="3416558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8952482" y="3416558"/>
            <a:ext cx="3104675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D9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6203001" y="3599617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DS Record (DNSSEC)</a:t>
            </a:r>
            <a:endParaRPr lang="en-US" sz="800" dirty="0"/>
          </a:p>
        </p:txBody>
      </p:sp>
      <p:sp>
        <p:nvSpPr>
          <p:cNvPr id="108" name="Shape 105"/>
          <p:cNvSpPr/>
          <p:nvPr/>
        </p:nvSpPr>
        <p:spPr>
          <a:xfrm>
            <a:off x="6203001" y="3775234"/>
            <a:ext cx="5333569" cy="297458"/>
          </a:xfrm>
          <a:prstGeom prst="roundRect">
            <a:avLst>
              <a:gd name="adj" fmla="val 11676"/>
            </a:avLst>
          </a:prstGeom>
          <a:solidFill>
            <a:srgbClr val="F2F2F2"/>
          </a:solidFill>
          <a:ln/>
        </p:spPr>
      </p:sp>
      <p:sp>
        <p:nvSpPr>
          <p:cNvPr id="109" name="Text 106"/>
          <p:cNvSpPr/>
          <p:nvPr/>
        </p:nvSpPr>
        <p:spPr>
          <a:xfrm>
            <a:off x="6302217" y="3857883"/>
            <a:ext cx="574472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26974 8 2 4fede294c53f438a158c41d39489cd78a86beb0d8a0aeaff14745c0d16e1de32</a:t>
            </a:r>
            <a:endParaRPr lang="en-US" sz="650" dirty="0"/>
          </a:p>
        </p:txBody>
      </p:sp>
      <p:sp>
        <p:nvSpPr>
          <p:cNvPr id="110" name="Text 107"/>
          <p:cNvSpPr/>
          <p:nvPr/>
        </p:nvSpPr>
        <p:spPr>
          <a:xfrm>
            <a:off x="6203001" y="411912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Authoritative Name Servers (.ORG Zone)</a:t>
            </a:r>
            <a:endParaRPr lang="en-US" sz="800" dirty="0"/>
          </a:p>
        </p:txBody>
      </p:sp>
      <p:sp>
        <p:nvSpPr>
          <p:cNvPr id="111" name="Shape 108"/>
          <p:cNvSpPr/>
          <p:nvPr/>
        </p:nvSpPr>
        <p:spPr>
          <a:xfrm>
            <a:off x="6203001" y="4294743"/>
            <a:ext cx="5333569" cy="1180802"/>
          </a:xfrm>
          <a:prstGeom prst="roundRect">
            <a:avLst>
              <a:gd name="adj" fmla="val 29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6203001" y="4465697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3" name="Shape 110"/>
          <p:cNvSpPr/>
          <p:nvPr/>
        </p:nvSpPr>
        <p:spPr>
          <a:xfrm>
            <a:off x="6203001" y="4633476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4" name="Shape 111"/>
          <p:cNvSpPr/>
          <p:nvPr/>
        </p:nvSpPr>
        <p:spPr>
          <a:xfrm>
            <a:off x="6203001" y="4801255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5" name="Shape 112"/>
          <p:cNvSpPr/>
          <p:nvPr/>
        </p:nvSpPr>
        <p:spPr>
          <a:xfrm>
            <a:off x="6203001" y="4969034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6" name="Shape 113"/>
          <p:cNvSpPr/>
          <p:nvPr/>
        </p:nvSpPr>
        <p:spPr>
          <a:xfrm>
            <a:off x="6203001" y="5136813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7" name="Shape 114"/>
          <p:cNvSpPr/>
          <p:nvPr/>
        </p:nvSpPr>
        <p:spPr>
          <a:xfrm>
            <a:off x="6203001" y="5304592"/>
            <a:ext cx="5333569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8" name="Text 115"/>
          <p:cNvSpPr/>
          <p:nvPr/>
        </p:nvSpPr>
        <p:spPr>
          <a:xfrm>
            <a:off x="6292693" y="4332248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NS Host</a:t>
            </a:r>
            <a:endParaRPr lang="en-US" sz="650" dirty="0"/>
          </a:p>
        </p:txBody>
      </p:sp>
      <p:sp>
        <p:nvSpPr>
          <p:cNvPr id="119" name="Text 116"/>
          <p:cNvSpPr/>
          <p:nvPr/>
        </p:nvSpPr>
        <p:spPr>
          <a:xfrm>
            <a:off x="8065886" y="4332248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IPv4</a:t>
            </a:r>
            <a:endParaRPr lang="en-US" sz="650" dirty="0"/>
          </a:p>
        </p:txBody>
      </p:sp>
      <p:sp>
        <p:nvSpPr>
          <p:cNvPr id="120" name="Text 117"/>
          <p:cNvSpPr/>
          <p:nvPr/>
        </p:nvSpPr>
        <p:spPr>
          <a:xfrm>
            <a:off x="9839079" y="4332248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IPv6</a:t>
            </a:r>
            <a:endParaRPr lang="en-US" sz="650" dirty="0"/>
          </a:p>
        </p:txBody>
      </p:sp>
      <p:sp>
        <p:nvSpPr>
          <p:cNvPr id="121" name="Text 118"/>
          <p:cNvSpPr/>
          <p:nvPr/>
        </p:nvSpPr>
        <p:spPr>
          <a:xfrm>
            <a:off x="6292693" y="4500027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A0.ORG.AFILIAS-NST.INFO</a:t>
            </a:r>
            <a:endParaRPr lang="en-US" sz="650" dirty="0"/>
          </a:p>
        </p:txBody>
      </p:sp>
      <p:sp>
        <p:nvSpPr>
          <p:cNvPr id="122" name="Text 119"/>
          <p:cNvSpPr/>
          <p:nvPr/>
        </p:nvSpPr>
        <p:spPr>
          <a:xfrm>
            <a:off x="8065886" y="4500027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199.19.56.1</a:t>
            </a:r>
            <a:endParaRPr lang="en-US" sz="650" dirty="0"/>
          </a:p>
        </p:txBody>
      </p:sp>
      <p:sp>
        <p:nvSpPr>
          <p:cNvPr id="123" name="Text 120"/>
          <p:cNvSpPr/>
          <p:nvPr/>
        </p:nvSpPr>
        <p:spPr>
          <a:xfrm>
            <a:off x="9839079" y="4500027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2001:500:e::1</a:t>
            </a:r>
            <a:endParaRPr lang="en-US" sz="650" dirty="0"/>
          </a:p>
        </p:txBody>
      </p:sp>
      <p:sp>
        <p:nvSpPr>
          <p:cNvPr id="124" name="Text 121"/>
          <p:cNvSpPr/>
          <p:nvPr/>
        </p:nvSpPr>
        <p:spPr>
          <a:xfrm>
            <a:off x="6292693" y="4667806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A2.ORG.AFILIAS-NST.INFO</a:t>
            </a:r>
            <a:endParaRPr lang="en-US" sz="650" dirty="0"/>
          </a:p>
        </p:txBody>
      </p:sp>
      <p:sp>
        <p:nvSpPr>
          <p:cNvPr id="125" name="Text 122"/>
          <p:cNvSpPr/>
          <p:nvPr/>
        </p:nvSpPr>
        <p:spPr>
          <a:xfrm>
            <a:off x="8065886" y="4667806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199.249.112.1</a:t>
            </a:r>
            <a:endParaRPr lang="en-US" sz="650" dirty="0"/>
          </a:p>
        </p:txBody>
      </p:sp>
      <p:sp>
        <p:nvSpPr>
          <p:cNvPr id="126" name="Text 123"/>
          <p:cNvSpPr/>
          <p:nvPr/>
        </p:nvSpPr>
        <p:spPr>
          <a:xfrm>
            <a:off x="9839079" y="4667806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2001:500:40::1</a:t>
            </a:r>
            <a:endParaRPr lang="en-US" sz="650" dirty="0"/>
          </a:p>
        </p:txBody>
      </p:sp>
      <p:sp>
        <p:nvSpPr>
          <p:cNvPr id="127" name="Text 124"/>
          <p:cNvSpPr/>
          <p:nvPr/>
        </p:nvSpPr>
        <p:spPr>
          <a:xfrm>
            <a:off x="6292693" y="4835585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B0.ORG.AFILIAS-NST.ORG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8065886" y="4835585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199.19.54.1</a:t>
            </a:r>
            <a:endParaRPr lang="en-US" sz="650" dirty="0"/>
          </a:p>
        </p:txBody>
      </p:sp>
      <p:sp>
        <p:nvSpPr>
          <p:cNvPr id="129" name="Text 126"/>
          <p:cNvSpPr/>
          <p:nvPr/>
        </p:nvSpPr>
        <p:spPr>
          <a:xfrm>
            <a:off x="9839079" y="4835585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2001:500:c::1</a:t>
            </a:r>
            <a:endParaRPr lang="en-US" sz="650" dirty="0"/>
          </a:p>
        </p:txBody>
      </p:sp>
      <p:sp>
        <p:nvSpPr>
          <p:cNvPr id="130" name="Text 127"/>
          <p:cNvSpPr/>
          <p:nvPr/>
        </p:nvSpPr>
        <p:spPr>
          <a:xfrm>
            <a:off x="6292693" y="5003363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B2.ORG.AFILIAS-NST.ORG</a:t>
            </a:r>
            <a:endParaRPr lang="en-US" sz="650" dirty="0"/>
          </a:p>
        </p:txBody>
      </p:sp>
      <p:sp>
        <p:nvSpPr>
          <p:cNvPr id="131" name="Text 128"/>
          <p:cNvSpPr/>
          <p:nvPr/>
        </p:nvSpPr>
        <p:spPr>
          <a:xfrm>
            <a:off x="8065886" y="5003363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199.249.120.1</a:t>
            </a:r>
            <a:endParaRPr lang="en-US" sz="650" dirty="0"/>
          </a:p>
        </p:txBody>
      </p:sp>
      <p:sp>
        <p:nvSpPr>
          <p:cNvPr id="132" name="Text 129"/>
          <p:cNvSpPr/>
          <p:nvPr/>
        </p:nvSpPr>
        <p:spPr>
          <a:xfrm>
            <a:off x="9839079" y="5003363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2001:500:48::1</a:t>
            </a:r>
            <a:endParaRPr lang="en-US" sz="650" dirty="0"/>
          </a:p>
        </p:txBody>
      </p:sp>
      <p:sp>
        <p:nvSpPr>
          <p:cNvPr id="133" name="Text 130"/>
          <p:cNvSpPr/>
          <p:nvPr/>
        </p:nvSpPr>
        <p:spPr>
          <a:xfrm>
            <a:off x="6292693" y="5171142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C0.ORG.AFILIAS-NST.INFO</a:t>
            </a:r>
            <a:endParaRPr lang="en-US" sz="650" dirty="0"/>
          </a:p>
        </p:txBody>
      </p:sp>
      <p:sp>
        <p:nvSpPr>
          <p:cNvPr id="134" name="Text 131"/>
          <p:cNvSpPr/>
          <p:nvPr/>
        </p:nvSpPr>
        <p:spPr>
          <a:xfrm>
            <a:off x="8065886" y="5171142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199.19.53.1</a:t>
            </a:r>
            <a:endParaRPr lang="en-US" sz="650" dirty="0"/>
          </a:p>
        </p:txBody>
      </p:sp>
      <p:sp>
        <p:nvSpPr>
          <p:cNvPr id="135" name="Text 132"/>
          <p:cNvSpPr/>
          <p:nvPr/>
        </p:nvSpPr>
        <p:spPr>
          <a:xfrm>
            <a:off x="9839079" y="5171142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2001:500:b::1</a:t>
            </a:r>
            <a:endParaRPr lang="en-US" sz="650" dirty="0"/>
          </a:p>
        </p:txBody>
      </p:sp>
      <p:sp>
        <p:nvSpPr>
          <p:cNvPr id="136" name="Text 133"/>
          <p:cNvSpPr/>
          <p:nvPr/>
        </p:nvSpPr>
        <p:spPr>
          <a:xfrm>
            <a:off x="6292693" y="5338921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D0.ORG.AFILIAS-NST.ORG</a:t>
            </a:r>
            <a:endParaRPr lang="en-US" sz="650" dirty="0"/>
          </a:p>
        </p:txBody>
      </p:sp>
      <p:sp>
        <p:nvSpPr>
          <p:cNvPr id="137" name="Text 134"/>
          <p:cNvSpPr/>
          <p:nvPr/>
        </p:nvSpPr>
        <p:spPr>
          <a:xfrm>
            <a:off x="8065886" y="5338921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199.19.57.1</a:t>
            </a:r>
            <a:endParaRPr lang="en-US" sz="650" dirty="0"/>
          </a:p>
        </p:txBody>
      </p:sp>
      <p:sp>
        <p:nvSpPr>
          <p:cNvPr id="138" name="Text 135"/>
          <p:cNvSpPr/>
          <p:nvPr/>
        </p:nvSpPr>
        <p:spPr>
          <a:xfrm>
            <a:off x="9839079" y="5338921"/>
            <a:ext cx="221748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2001:500:f::1</a:t>
            </a:r>
            <a:endParaRPr lang="en-US" sz="650" dirty="0"/>
          </a:p>
        </p:txBody>
      </p:sp>
      <p:sp>
        <p:nvSpPr>
          <p:cNvPr id="139" name="Shape 136"/>
          <p:cNvSpPr/>
          <p:nvPr/>
        </p:nvSpPr>
        <p:spPr>
          <a:xfrm>
            <a:off x="6203001" y="5521980"/>
            <a:ext cx="5333569" cy="214809"/>
          </a:xfrm>
          <a:prstGeom prst="roundRect">
            <a:avLst>
              <a:gd name="adj" fmla="val 16169"/>
            </a:avLst>
          </a:prstGeom>
          <a:solidFill>
            <a:srgbClr val="FCF2B5"/>
          </a:solidFill>
          <a:ln/>
        </p:spPr>
      </p:sp>
      <p:pic>
        <p:nvPicPr>
          <p:cNvPr id="1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648" y="5587762"/>
            <a:ext cx="103284" cy="82649"/>
          </a:xfrm>
          <a:prstGeom prst="rect">
            <a:avLst/>
          </a:prstGeom>
        </p:spPr>
      </p:pic>
      <p:sp>
        <p:nvSpPr>
          <p:cNvPr id="141" name="Text 137"/>
          <p:cNvSpPr/>
          <p:nvPr/>
        </p:nvSpPr>
        <p:spPr>
          <a:xfrm>
            <a:off x="6471580" y="5579824"/>
            <a:ext cx="5591928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WHOIS DB last updated: </a:t>
            </a:r>
            <a:r>
              <a:rPr lang="en-US" sz="6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2026-08-18T17:57:32Z</a:t>
            </a: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Source: IANA / whois.publicinterestregistry.org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4C3A7D3-DAA4-45BC-F497-755D6F8A57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77" b="5517"/>
          <a:stretch>
            <a:fillRect/>
          </a:stretch>
        </p:blipFill>
        <p:spPr>
          <a:xfrm>
            <a:off x="661475" y="954741"/>
            <a:ext cx="9921360" cy="488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85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553E-E345-4C29-9FB3-ADF77E771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799"/>
          </a:xfrm>
        </p:spPr>
        <p:txBody>
          <a:bodyPr>
            <a:normAutofit fontScale="90000"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961D70-F4C2-F2DE-41A4-189C5945D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2553" y="1035424"/>
            <a:ext cx="7678271" cy="445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22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25EA-0B2B-7A64-A136-1AF9737E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346097-57E7-453A-AE46-0142775E6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3189" y="1825625"/>
            <a:ext cx="74456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41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FBF37-E97E-24D3-D222-6BC88687D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78B792-BC55-CDFA-477E-3FD584BFF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6171" y="1825625"/>
            <a:ext cx="7445622" cy="4351338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163852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950293" cy="258465"/>
          </a:xfrm>
          <a:prstGeom prst="roundRect">
            <a:avLst>
              <a:gd name="adj" fmla="val 47389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570805"/>
            <a:ext cx="135589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39490"/>
            <a:ext cx="10868745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300" kern="0" spc="-10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Discovery Workflow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127" y="1709142"/>
            <a:ext cx="4700668" cy="27899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88863" y="3766396"/>
            <a:ext cx="1168479" cy="39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00" kern="0" spc="-4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Merge &amp; Dedup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16259" y="3766396"/>
            <a:ext cx="1168479" cy="39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00" kern="0" spc="-4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Passive Harvest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19645" y="3865440"/>
            <a:ext cx="1168479" cy="198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00" kern="0" spc="-4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Active Crawl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94719" y="2380952"/>
            <a:ext cx="1841752" cy="1446212"/>
          </a:xfrm>
          <a:prstGeom prst="roundRect">
            <a:avLst>
              <a:gd name="adj" fmla="val 10587"/>
            </a:avLst>
          </a:prstGeom>
          <a:solidFill>
            <a:srgbClr val="6F8F99"/>
          </a:solidFill>
          <a:ln/>
        </p:spPr>
      </p:sp>
      <p:sp>
        <p:nvSpPr>
          <p:cNvPr id="10" name="Text 7"/>
          <p:cNvSpPr/>
          <p:nvPr/>
        </p:nvSpPr>
        <p:spPr>
          <a:xfrm>
            <a:off x="9864776" y="2561134"/>
            <a:ext cx="150163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Running active and passive methods in parallel maximises coverage while keeping your recon time efficient.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4843562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D4F7F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21" y="4907310"/>
            <a:ext cx="255085" cy="2550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97243" y="4917976"/>
            <a:ext cx="2959621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kern="0" spc="-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Active Crawling (Katana)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197243" y="5243612"/>
            <a:ext cx="29596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Katana actively spiders the target, following links and extracting JS file paths. Use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-jc</a:t>
            </a: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JS parsing and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-kf all</a:t>
            </a: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capture all known files.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8153" y="4843562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D4F7F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1899" y="4907310"/>
            <a:ext cx="255085" cy="2550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83921" y="4917976"/>
            <a:ext cx="2959621" cy="467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kern="0" spc="-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Passive Harvesting (GAU &amp; Wayback)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4883921" y="5477470"/>
            <a:ext cx="295962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GAU queries multiple archives (AlienVault, Wayback, Common Crawl) while Waybackurls specifically pulls from the Wayback Machine — together they cover broad historical depth.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34831" y="4843562"/>
            <a:ext cx="382677" cy="382687"/>
          </a:xfrm>
          <a:prstGeom prst="roundRect">
            <a:avLst>
              <a:gd name="adj" fmla="val 40009"/>
            </a:avLst>
          </a:prstGeom>
          <a:solidFill>
            <a:srgbClr val="D4F7F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8577" y="4907310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70599" y="4917976"/>
            <a:ext cx="2959621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50" kern="0" spc="-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Merge &amp; Deduplicate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8570599" y="5243612"/>
            <a:ext cx="29596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Concatenate all output files, pipe through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 -u</a:t>
            </a: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remove duplicates, and write a clean unified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urls.txt</a:t>
            </a: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ready for downstream tooling.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6203"/>
            <a:ext cx="1037405" cy="272752"/>
          </a:xfrm>
          <a:prstGeom prst="roundRect">
            <a:avLst>
              <a:gd name="adj" fmla="val 47401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789980"/>
            <a:ext cx="143169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77119"/>
            <a:ext cx="10868745" cy="49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500" kern="0" spc="-106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Command Reference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61475" y="1826816"/>
            <a:ext cx="10868745" cy="1198265"/>
          </a:xfrm>
          <a:prstGeom prst="roundRect">
            <a:avLst>
              <a:gd name="adj" fmla="val 13487"/>
            </a:avLst>
          </a:prstGeom>
          <a:solidFill>
            <a:srgbClr val="D4F7F5"/>
          </a:solidFill>
          <a:ln/>
        </p:spPr>
      </p:sp>
      <p:sp>
        <p:nvSpPr>
          <p:cNvPr id="6" name="Text 4"/>
          <p:cNvSpPr/>
          <p:nvPr/>
        </p:nvSpPr>
        <p:spPr>
          <a:xfrm>
            <a:off x="840957" y="2006302"/>
            <a:ext cx="10509781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5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Run All Three Tools Against Your Target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40957" y="2355453"/>
            <a:ext cx="10509781" cy="49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Execute each command in sequence, saving outputs separately so you can audit individual tool results before merging into the final wordlist.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475" y="3216970"/>
            <a:ext cx="359064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3469680"/>
            <a:ext cx="5349047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610173"/>
            <a:ext cx="5349047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5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Katana — JS &amp; Active Crawl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61475" y="3959324"/>
            <a:ext cx="5349047" cy="39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katana -u https://vulnbank.org/ -jc -kf all -o katana.txt</a:t>
            </a: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actively spiders the target and extracts JS file references alongside all crawled URLs.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1074" y="3216970"/>
            <a:ext cx="359064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1074" y="3469680"/>
            <a:ext cx="5349146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074" y="3610173"/>
            <a:ext cx="5349146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5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GAU — Passive Archive Fetch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181074" y="3959324"/>
            <a:ext cx="5349146" cy="39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gau www.vulnbank.org | tee gau.txt</a:t>
            </a: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queries AlienVault OTX, Wayback, and Common Crawl for every historically known URL on the domain.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1475" y="4656634"/>
            <a:ext cx="359064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1475" y="4909344"/>
            <a:ext cx="5349047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5049837"/>
            <a:ext cx="5349047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5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Waybackurls — Wayback Machine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61475" y="5398988"/>
            <a:ext cx="5349047" cy="39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waybackurls www.vulnbank.org | tee wayback.txt</a:t>
            </a: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pulls the full CDX snapshot history from archive.org for the target domain.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074" y="4656634"/>
            <a:ext cx="359064" cy="197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42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074" y="4909344"/>
            <a:ext cx="5349146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2" name="Text 20"/>
          <p:cNvSpPr/>
          <p:nvPr/>
        </p:nvSpPr>
        <p:spPr>
          <a:xfrm>
            <a:off x="6181074" y="5049837"/>
            <a:ext cx="5349146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5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Merge &amp; Deduplicate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181074" y="5398988"/>
            <a:ext cx="5349146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 katana.txt gau.txt wayback.txt | sort -u &gt; urls.txt</a:t>
            </a: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concatenates all three files, sorts them alphabetically, removes duplicates, and writes the final clean wordlist.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1F9E4C"/>
          </a:solidFill>
          <a:ln/>
        </p:spPr>
      </p:sp>
      <p:sp>
        <p:nvSpPr>
          <p:cNvPr id="3" name="Shape 1"/>
          <p:cNvSpPr/>
          <p:nvPr/>
        </p:nvSpPr>
        <p:spPr>
          <a:xfrm>
            <a:off x="10927080" y="548640"/>
            <a:ext cx="54864" cy="54864"/>
          </a:xfrm>
          <a:prstGeom prst="ellipse">
            <a:avLst/>
          </a:prstGeom>
          <a:solidFill>
            <a:srgbClr val="1F9E4C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F9E4C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868680"/>
            <a:ext cx="54864" cy="54864"/>
          </a:xfrm>
          <a:prstGeom prst="ellipse">
            <a:avLst/>
          </a:prstGeom>
          <a:solidFill>
            <a:srgbClr val="1F9E4C"/>
          </a:solidFill>
          <a:ln/>
        </p:spPr>
      </p:sp>
      <p:sp>
        <p:nvSpPr>
          <p:cNvPr id="6" name="Shape 4"/>
          <p:cNvSpPr/>
          <p:nvPr/>
        </p:nvSpPr>
        <p:spPr>
          <a:xfrm>
            <a:off x="10927080" y="868680"/>
            <a:ext cx="54864" cy="54864"/>
          </a:xfrm>
          <a:prstGeom prst="ellipse">
            <a:avLst/>
          </a:prstGeom>
          <a:solidFill>
            <a:srgbClr val="1F9E4C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868680"/>
            <a:ext cx="54864" cy="54864"/>
          </a:xfrm>
          <a:prstGeom prst="ellipse">
            <a:avLst/>
          </a:prstGeom>
          <a:solidFill>
            <a:srgbClr val="1F9E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 --role=attacker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kern="0" spc="1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kern="0" spc="1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CONTROL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3291840" cy="411480"/>
          </a:xfrm>
          <a:prstGeom prst="rect">
            <a:avLst/>
          </a:prstGeom>
          <a:solidFill>
            <a:srgbClr val="121A21"/>
          </a:solidFill>
          <a:ln w="12700">
            <a:solidFill>
              <a:srgbClr val="1F9E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TOP 10  ·  A01:2021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·  Session Management  ·  Access Control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briefing with 3 live exploit demonstrations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root@web-security-academy:~#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Ideas People Mix Up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420624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474720" cy="54864"/>
          </a:xfrm>
          <a:prstGeom prst="rect">
            <a:avLst/>
          </a:prstGeom>
          <a:solidFill>
            <a:srgbClr val="39FF6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the user is who they say they 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5120640"/>
            <a:ext cx="3017520" cy="502920"/>
          </a:xfrm>
          <a:prstGeom prst="rect">
            <a:avLst/>
          </a:prstGeom>
          <a:solidFill>
            <a:srgbClr val="16202A"/>
          </a:solidFill>
          <a:ln w="9525">
            <a:solidFill>
              <a:srgbClr val="243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120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F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তুমি কে?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474720" cy="420624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691640"/>
            <a:ext cx="3474720" cy="5486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🍪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Management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subsequent HTTP requests are being made by that same user.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5120640"/>
            <a:ext cx="3017520" cy="502920"/>
          </a:xfrm>
          <a:prstGeom prst="rect">
            <a:avLst/>
          </a:prstGeom>
          <a:solidFill>
            <a:srgbClr val="16202A"/>
          </a:solidFill>
          <a:ln w="9525">
            <a:solidFill>
              <a:srgbClr val="24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5120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কোন login/session-এর user?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474720" cy="420624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91640"/>
            <a:ext cx="3474720" cy="54864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965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6676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Control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31546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whether the user is allowed to carry out the action they are attempting to perform.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5120640"/>
            <a:ext cx="3017520" cy="502920"/>
          </a:xfrm>
          <a:prstGeom prst="rect">
            <a:avLst/>
          </a:prstGeom>
          <a:solidFill>
            <a:srgbClr val="16202A"/>
          </a:solidFill>
          <a:ln w="9525">
            <a:solidFill>
              <a:srgbClr val="243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5120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তুমি কী করতে পারবে?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ACCESS CONTROL  //  SECURITY LAB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5F91D-92D8-6618-1077-E5DBEBD20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6" y="1301069"/>
            <a:ext cx="7937500" cy="371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47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665E92-70CF-ABD8-A312-12BFC59E1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233" y="1288457"/>
            <a:ext cx="9135533" cy="428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19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9FF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LAB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92640" y="411480"/>
            <a:ext cx="1920240" cy="384048"/>
          </a:xfrm>
          <a:prstGeom prst="rect">
            <a:avLst/>
          </a:prstGeom>
          <a:solidFill>
            <a:srgbClr val="121A21"/>
          </a:solidFill>
          <a:ln w="12700">
            <a:solidFill>
              <a:srgbClr val="1F9E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11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APPRENTICE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1 · Unprotected Admin Functionality</a:t>
            </a:r>
            <a:endParaRPr lang="en-US" sz="2700" dirty="0">
              <a:solidFill>
                <a:srgbClr val="00B0F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solidFill>
            <a:srgbClr val="05080B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open  </a:t>
            </a: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portswigger.net/web-security/access-control/lab-unprotected-admin-functionality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257800" cy="187452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has an unprotected admin panel. Find it and use it to delete the user "carlos."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9320" y="2286000"/>
            <a:ext cx="5440680" cy="187452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CREDENTIALS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83464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has zero authentication or authorization check — anyone who finds the URL gets full admin access.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0881360" cy="1691640"/>
          </a:xfrm>
          <a:prstGeom prst="rect">
            <a:avLst/>
          </a:prstGeom>
          <a:solidFill>
            <a:srgbClr val="16202A"/>
          </a:solidFill>
          <a:ln w="12700">
            <a:solidFill>
              <a:srgbClr val="1F9E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07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 ATTACK TECHNIQUE — walk through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86460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Browse to the site and try guessing an admin path directly.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Request /robots.txt — the Disallow line leaks the real admin path (e.g. /administrator-panel).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Navigate straight to that path — no login required — and delete carlos.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ACCESS CONTROL  //  SECURITY LAB BRIEFING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9FF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LAB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92640" y="411480"/>
            <a:ext cx="1920240" cy="384048"/>
          </a:xfrm>
          <a:prstGeom prst="rect">
            <a:avLst/>
          </a:prstGeom>
          <a:solidFill>
            <a:srgbClr val="121A21"/>
          </a:solidFill>
          <a:ln w="12700">
            <a:solidFill>
              <a:srgbClr val="1F9E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11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APPRENTICE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2 · ...with Unpredictable URL</a:t>
            </a:r>
            <a:endParaRPr lang="en-US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solidFill>
            <a:srgbClr val="05080B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open  </a:t>
            </a: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portswigger.net/web-security/access-control/lab-unprotected-admin-functionality-with-unpredictable-url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257800" cy="187452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unprotected admin panel — but now at a random, unguessable URL. Find it anyway and delete "carlos."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9320" y="2286000"/>
            <a:ext cx="5440680" cy="187452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CREDENTIALS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83464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a random URL is security through obscurity, not access control — and it still leaked client-side.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0881360" cy="1691640"/>
          </a:xfrm>
          <a:prstGeom prst="rect">
            <a:avLst/>
          </a:prstGeom>
          <a:solidFill>
            <a:srgbClr val="16202A"/>
          </a:solidFill>
          <a:ln w="12700">
            <a:solidFill>
              <a:srgbClr val="1F9E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07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 ATTACK TECHNIQUE — walk through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86460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/robots.txt this time reveals nothing useful.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View the homepage's page source / dev tools.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 inline &lt;script&gt; block conditionally builds an "Admin panel" link — its href leaks the random admin URL (e.g. /admin-p8lfpz).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Browse directly to that path — still no auth check on the server.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ACCESS CONTROL  //  SECURITY LAB BRIEFING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9FF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LAB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92640" y="411480"/>
            <a:ext cx="1920240" cy="384048"/>
          </a:xfrm>
          <a:prstGeom prst="rect">
            <a:avLst/>
          </a:prstGeom>
          <a:solidFill>
            <a:srgbClr val="121A21"/>
          </a:solidFill>
          <a:ln w="12700">
            <a:solidFill>
              <a:srgbClr val="1F9E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411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APPRENTICE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3 · User Role via Request Parameter</a:t>
            </a:r>
            <a:endParaRPr lang="en-US" sz="27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32204"/>
            <a:ext cx="10881360" cy="457200"/>
          </a:xfrm>
          <a:prstGeom prst="rect">
            <a:avLst/>
          </a:prstGeom>
          <a:solidFill>
            <a:srgbClr val="05080B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open  </a:t>
            </a: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portswigger.net/web-security/access-control/lab-user-role-controlled-by-request-parameter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257800" cy="187452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a normal user, then escalate to admin and delete "carlos" from the admin panel.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9320" y="2286000"/>
            <a:ext cx="5440680" cy="1874520"/>
          </a:xfrm>
          <a:prstGeom prst="rect">
            <a:avLst/>
          </a:prstGeom>
          <a:solidFill>
            <a:srgbClr val="121A21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CREDENTIALS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83464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: peter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trusts a client-controlled cookie to decide role — never trust the client for authorization.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0881360" cy="1691640"/>
          </a:xfrm>
          <a:prstGeom prst="rect">
            <a:avLst/>
          </a:prstGeom>
          <a:solidFill>
            <a:srgbClr val="16202A"/>
          </a:solidFill>
          <a:ln w="12700">
            <a:solidFill>
              <a:srgbClr val="1F9E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07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 ATTACK TECHNIQUE — walk through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86460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 in with wiener:peter and visit /admin — blocked ("only available to administrators").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Intercept the request in Burp Suite — notice an Admin=false cookie/parameter.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Flip it to Admin=true and replay the request on every admin-related call.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Access granted — delete carlos.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ACCESS CONTROL  //  SECURITY LAB BRIEFING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DE2C-02A8-9ADB-C913-3E90E5E0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8A332D-598E-F27D-5D94-B4991B18CBA5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9FF6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758F59-745D-F1B9-3336-628922C0F5C6}"/>
              </a:ext>
            </a:extLst>
          </p:cNvPr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LAB 3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9FFEF5-1BAE-12FE-160A-1A045A153D0C}"/>
              </a:ext>
            </a:extLst>
          </p:cNvPr>
          <p:cNvSpPr/>
          <p:nvPr/>
        </p:nvSpPr>
        <p:spPr>
          <a:xfrm>
            <a:off x="9692640" y="411480"/>
            <a:ext cx="1920240" cy="384048"/>
          </a:xfrm>
          <a:prstGeom prst="rect">
            <a:avLst/>
          </a:prstGeom>
          <a:solidFill>
            <a:srgbClr val="121A21"/>
          </a:solidFill>
          <a:ln w="12700">
            <a:solidFill>
              <a:srgbClr val="1F9E4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C74A13-D1F4-F45D-CCD4-743098915B7C}"/>
              </a:ext>
            </a:extLst>
          </p:cNvPr>
          <p:cNvSpPr/>
          <p:nvPr/>
        </p:nvSpPr>
        <p:spPr>
          <a:xfrm>
            <a:off x="9692640" y="411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APPRENTICE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0ADB51-78A5-4AA0-8B10-7B6F17F0F3B7}"/>
              </a:ext>
            </a:extLst>
          </p:cNvPr>
          <p:cNvSpPr/>
          <p:nvPr/>
        </p:nvSpPr>
        <p:spPr>
          <a:xfrm>
            <a:off x="548640" y="822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4 · User Role via Request Parameter</a:t>
            </a:r>
            <a:endParaRPr lang="en-US" sz="27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3F852A2-D579-425A-9866-B687206C26F9}"/>
              </a:ext>
            </a:extLst>
          </p:cNvPr>
          <p:cNvSpPr/>
          <p:nvPr/>
        </p:nvSpPr>
        <p:spPr>
          <a:xfrm>
            <a:off x="548640" y="1632204"/>
            <a:ext cx="10881360" cy="457200"/>
          </a:xfrm>
          <a:prstGeom prst="rect">
            <a:avLst/>
          </a:prstGeom>
          <a:solidFill>
            <a:srgbClr val="05080B"/>
          </a:solidFill>
          <a:ln w="12700">
            <a:solidFill>
              <a:srgbClr val="2430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32DA10-772E-69A6-A96D-02A484BE6548}"/>
              </a:ext>
            </a:extLst>
          </p:cNvPr>
          <p:cNvSpPr/>
          <p:nvPr/>
        </p:nvSpPr>
        <p:spPr>
          <a:xfrm>
            <a:off x="777240" y="1600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open  </a:t>
            </a:r>
            <a:r>
              <a:rPr lang="en-US" sz="1200" dirty="0" err="1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portswigger.net</a:t>
            </a: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/web-security/access-control/lab-user-id-controlled-by-request-parameter-with-unpredictable-user-ids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F0C316-FE3A-CAB5-9125-56A959C4E911}"/>
              </a:ext>
            </a:extLst>
          </p:cNvPr>
          <p:cNvSpPr/>
          <p:nvPr/>
        </p:nvSpPr>
        <p:spPr>
          <a:xfrm>
            <a:off x="77724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82B441-4AFD-6E80-B59B-31869E7CF498}"/>
              </a:ext>
            </a:extLst>
          </p:cNvPr>
          <p:cNvSpPr/>
          <p:nvPr/>
        </p:nvSpPr>
        <p:spPr>
          <a:xfrm>
            <a:off x="777240" y="28346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D832994-0046-E1CD-EB08-92ABA7A4DBAC}"/>
              </a:ext>
            </a:extLst>
          </p:cNvPr>
          <p:cNvSpPr/>
          <p:nvPr/>
        </p:nvSpPr>
        <p:spPr>
          <a:xfrm>
            <a:off x="621792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F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CREDENTIALS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85F6A5-7982-FE17-FC75-C37F3C7ED065}"/>
              </a:ext>
            </a:extLst>
          </p:cNvPr>
          <p:cNvSpPr/>
          <p:nvPr/>
        </p:nvSpPr>
        <p:spPr>
          <a:xfrm>
            <a:off x="6217920" y="283464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3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DF2E0F4-7849-915C-767D-1EDDF0DB8BC9}"/>
              </a:ext>
            </a:extLst>
          </p:cNvPr>
          <p:cNvSpPr/>
          <p:nvPr/>
        </p:nvSpPr>
        <p:spPr>
          <a:xfrm>
            <a:off x="777240" y="4507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8FB3443-4A4F-8082-05B2-30801ADDB9C3}"/>
              </a:ext>
            </a:extLst>
          </p:cNvPr>
          <p:cNvSpPr/>
          <p:nvPr/>
        </p:nvSpPr>
        <p:spPr>
          <a:xfrm>
            <a:off x="777240" y="486460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3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2F3F6E3-6E68-0C45-BA1F-5BA3AD5ADD3A}"/>
              </a:ext>
            </a:extLst>
          </p:cNvPr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ACCESS CONTROL  //  SECURITY LAB BRIEFING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9D95C9A-E8D0-FE08-0B51-7302888A804F}"/>
              </a:ext>
            </a:extLst>
          </p:cNvPr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80867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D7DAB8-C048-581E-1EB1-3CB8FFB7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2036231"/>
            <a:ext cx="3632199" cy="42291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F6BED2-7E79-F06B-EFB6-B6A2D51FB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732" y="2298700"/>
            <a:ext cx="3970867" cy="3390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F04CE8-BF19-320E-01AB-4324B174A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400" y="1289050"/>
            <a:ext cx="48260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74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28016" cy="128016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59436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594360"/>
            <a:ext cx="128016" cy="128016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OS Command Injection?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vulnerability that lets an attacker run arbitrary operating-system commands on the server, with the same privileges as the application itself.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builds a shell command by concatenating user-controllable input, then hands the whole string to a shell interpreter instead of calling the OS directly.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48456"/>
            <a:ext cx="82296" cy="82296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520440"/>
            <a:ext cx="4773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compromise of the web server and its data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4050792"/>
            <a:ext cx="82296" cy="82296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922776"/>
            <a:ext cx="4773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point into internal infrastructure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4453128"/>
            <a:ext cx="82296" cy="82296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4325112"/>
            <a:ext cx="4773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foothold, even after the bug is patched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" y="4910328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B2436"/>
          </a:solidFill>
          <a:ln w="12700">
            <a:solidFill>
              <a:srgbClr val="5A3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91032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CWE-78  </a:t>
            </a:r>
            <a:r>
              <a:rPr lang="en-US" sz="1250" dirty="0">
                <a:solidFill>
                  <a:srgbClr val="C7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Typical severity: </a:t>
            </a:r>
            <a:r>
              <a:rPr lang="en-US" sz="125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/ CRITICAL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METACHARACTERS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3774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 to chain an extra command onto the intended one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2743200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1B2436"/>
          </a:solidFill>
          <a:ln w="12700">
            <a:solidFill>
              <a:srgbClr val="2631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2743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separator (Unix)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32720" y="27432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regardless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3200400"/>
            <a:ext cx="4983480" cy="0"/>
          </a:xfrm>
          <a:prstGeom prst="line">
            <a:avLst/>
          </a:prstGeom>
          <a:noFill/>
          <a:ln w="9525">
            <a:solidFill>
              <a:srgbClr val="2631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32004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2nd if 1st succeeds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0" y="32004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valid 1st cmd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3657600"/>
            <a:ext cx="4983480" cy="0"/>
          </a:xfrm>
          <a:prstGeom prst="line">
            <a:avLst/>
          </a:prstGeom>
          <a:noFill/>
          <a:ln w="9525">
            <a:solidFill>
              <a:srgbClr val="2631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3657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2nd if 1st fails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332720" y="36576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blind cases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4114800"/>
            <a:ext cx="4983480" cy="0"/>
          </a:xfrm>
          <a:prstGeom prst="line">
            <a:avLst/>
          </a:prstGeom>
          <a:noFill/>
          <a:ln w="9525">
            <a:solidFill>
              <a:srgbClr val="2631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 output to next cmd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32720" y="41148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regardless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4572000"/>
            <a:ext cx="4983480" cy="0"/>
          </a:xfrm>
          <a:prstGeom prst="line">
            <a:avLst/>
          </a:prstGeom>
          <a:noFill/>
          <a:ln w="9525">
            <a:solidFill>
              <a:srgbClr val="2631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` / $()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0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substitution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32720" y="45720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inserted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Reference: portswigger.net/web-security/os-command-injection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35DF0A-52DF-2D82-F80B-526EAE39C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86"/>
            <a:ext cx="12192000" cy="684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71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28016" cy="128016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59436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594360"/>
            <a:ext cx="128016" cy="128016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LAB_01_SIMPLE_CASE.sh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— OS Command Injection, Simple Case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0A8F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CRITICAL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VULNERABILITY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stock checker builds a shell command using the user-supplied productID and storeID, then returns the command's raw output directly in the HTTP response.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a command onto the storeID parameter to execute whoami and read it straight from the response.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B2436"/>
          </a:solidFill>
          <a:ln w="15875">
            <a:solidFill>
              <a:srgbClr val="0A8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709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 INTO storeID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1|whoami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20116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STEPS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423160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3957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the stock-check request in Burp Suite.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044952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017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storeID to 1|whoami on the pipe operator.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3666744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6393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request and inspect the response.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4288536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288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2611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current OS user appears in the output.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500176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631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11149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53675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| operator ends the intended command and starts a new one — the shell has no idea storeID was meant to be just an ID.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demo: portswigger.net/web-security/os-command-injection/lab-simple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28016" cy="128016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59436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594360"/>
            <a:ext cx="128016" cy="128016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LAB_01_SIMPLE_CASE.sh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— OS Command Injection, Simple Case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0A8F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CRITICAL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VULNERABILITY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stock checker builds a shell command using the user-supplied productID and storeID, then returns the command's raw output directly in the HTTP response.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a command onto the storeID parameter to execute whoami and read it straight from the response.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B2436"/>
          </a:solidFill>
          <a:ln w="15875">
            <a:solidFill>
              <a:srgbClr val="0A8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709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 INTO storeID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1|whoami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20116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STEPS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423160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3957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the stock-check request in Burp Suite.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044952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017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storeID to 1|whoami on the pipe operator.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3666744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6393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request and inspect the response.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4288536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288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2611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current OS user appears in the output.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500176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 w="12700">
            <a:solidFill>
              <a:srgbClr val="2631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11149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53675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| operator ends the intended command and starts a new one — the shell has no idea storeID was meant to be just an ID.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demo: portswigger.net/web-security/os-command-injection/lab-simple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28016" cy="128016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594360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" y="594360"/>
            <a:ext cx="128016" cy="128016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LAB_02_BLIND_TIME_DELAY.sh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— Blind OS Command Injection with Time Delays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5A3B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BLIND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VULNERABILITY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feedback function executes a shell command built from the user-supplied email address — but the command's output is never returned in the response. No echo, no error, no clue.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TECHNIQUE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we can't see output, we make the server prove execution by making it pause — a 10-second ping sweep confirms the injection.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B2436"/>
          </a:solidFill>
          <a:ln w="15875">
            <a:solidFill>
              <a:srgbClr val="0A8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754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 INTO email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4983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x||ping -c 10 127.0.0.1||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172200" y="20116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STEPS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2423160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3957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the feedback submission request in Burp.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054096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054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02666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email to x||ping -c 10 127.0.0.1|| (|| runs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regardless of the first command's result).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867912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867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840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request and start the clock.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498848"/>
            <a:ext cx="329184" cy="329184"/>
          </a:xfrm>
          <a:prstGeom prst="ellipse">
            <a:avLst/>
          </a:prstGeom>
          <a:solidFill>
            <a:srgbClr val="1B2436"/>
          </a:solidFill>
          <a:ln w="15875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498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47141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response takes ~10 seconds — proof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blind execution.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5385816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2631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49554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TEACHING POINT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575157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is a side channel. When an app gives no output, response latency itself can confirm code execution.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demo: portswigger.net/web-security/os-command-injection/lab-blind-time-delays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1916</Words>
  <Application>Microsoft Macintosh PowerPoint</Application>
  <PresentationFormat>Widescreen</PresentationFormat>
  <Paragraphs>314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Consolas</vt:lpstr>
      <vt:lpstr>Courier New</vt:lpstr>
      <vt:lpstr>DM Sans Light</vt:lpstr>
      <vt:lpstr>Manrope</vt:lpstr>
      <vt:lpstr>Raleway</vt:lpstr>
      <vt:lpstr>Raleway Bold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sutrodhar</dc:creator>
  <cp:lastModifiedBy>Anik sutrodhar</cp:lastModifiedBy>
  <cp:revision>6</cp:revision>
  <dcterms:created xsi:type="dcterms:W3CDTF">2026-08-18T19:18:54Z</dcterms:created>
  <dcterms:modified xsi:type="dcterms:W3CDTF">2026-08-20T10:29:16Z</dcterms:modified>
</cp:coreProperties>
</file>